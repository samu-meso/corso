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B80BAE-D751-4893-88B8-3AA2BC737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3C6C83C-FF97-40F1-B4CA-C3F2BDE1A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DBBA1C-22F2-4F73-B549-EFB251C8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55784C-1EC3-49E6-9CEA-758990B4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AAE3F0-EB1A-4A31-ACC6-445C450A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43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4E9239-CE70-48C3-9944-D0E0C246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000314-ACDD-45A3-8734-8C530CA1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F8A51C-AEBB-4C88-99E2-9D910233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52D4D6-36C7-421D-97D0-D816E3B8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F90AB6-C1BC-4412-8BBA-6FBE6D67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012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C8ACF-2B63-46AD-8910-D714C29E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1F5225-A2F0-4F8A-ACB5-5B1A19FE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776DF9-04BB-44EC-83E5-2AD298B0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D37F08-7119-4606-AFCD-C98EBAFA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2DB070-85CD-45BD-B620-0937F7E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67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A763F7-9510-4B3D-8A3F-8D527899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EEE57E-79C3-4FEB-98F4-4FCE88F1A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0B2C60-9C0A-4C8F-9DBB-01641122E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DE55A4-E1CA-4CD4-846F-CD01B132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685232-3218-4BAB-97AE-39CE1E38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EB7453-786B-40BF-9C3E-A4A769AD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331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078A79-D54A-4284-8938-1C8B8FBC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BE4E4B-0233-4450-AB11-548E026EC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CE7E66-A44E-4995-8C18-9365313BB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3ED167-4182-41BF-9BDD-C03ABA51C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4705512-C7E7-4BAD-BBBB-4CFED55E9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BC00330-B86E-45E0-93AE-0C9A89A8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19D9CA4-C264-44FC-82A5-E006D1A4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5F4003C-59D9-4F67-94A8-76626292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258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E64745-19AF-4DE7-B209-28D24B3E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0DF4DF-8858-4FF8-A276-FAC32CD7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3E24222-73BD-4FD0-A399-7D1B2191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4B83662-6005-4327-ABBB-EAF5C92B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526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FCBD029-948C-42B9-90EB-AC8EF951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793A64C-A65B-4C36-82EA-DCFFFCFB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0C0581-BF5C-4C4F-BE1D-22C09D53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995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D4C89-A973-447C-BD8E-EF1F4447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85FAA2-1A44-44FF-B053-129D1467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D950BD1-3AE8-4C43-BEAD-568D472D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F85522-2D79-461D-A8EF-F58301FB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8F8243-BAC4-451F-9D40-29335CE6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2D0EEB-D003-4F9D-83EC-9681AFEE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050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0C0FDA-9889-4DB2-8A45-4A4E3567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9CAA651-A6FC-4305-8607-CAD9386EC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4B7F38B-19E1-4B47-BE89-A165BC55B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CF5E46-9508-469D-8B32-D2506667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99B49F-F780-4300-8714-A6FAEA53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6DCFD0-29B4-44F7-B54B-867E29D1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483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10D94-DA95-4F37-931D-0312AB39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BEA3E0E-645F-44D7-AFF1-DAE149A9C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B3D2D9-D676-4C0A-982B-F2B9C9CA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A38B97-F042-41F1-AD5D-163CA355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C90794-924E-47EC-8D2A-214FBFAE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39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675C56E-9EB0-4B1D-87AB-730B78CB4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9BFD33-1F56-46DE-8477-3D897CFA2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61D43E-30FD-4FB7-AFF4-DACA7B18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8E04BE-FAA7-47FC-B380-518EE2C0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57FD37-5554-4F00-85F4-4479AA3F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50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7380B79-59F8-420C-BD6C-90180A72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212F0F-382B-48C1-9C4C-78E43B77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A06CBE-BC61-4FDF-AF33-2A3D531FB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89A7A-351C-468F-89CB-AD2572E0EF9F}" type="datetimeFigureOut">
              <a:rPr lang="it-IT" smtClean="0"/>
              <a:t>26/05/2020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CAAD42-63E4-4151-A0EE-3B9861A39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F8F763-64FB-4BAC-A249-BF49E3DE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68CA9-4BD8-4F92-A284-27A9DA132D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0700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1CDB0B-8AB8-44BF-97C6-F87BA7BEB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Cybersecurity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7935F6F-D31F-41F9-AD29-DB200433D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144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98BB0F-81A2-4D7D-97E9-D6A72A9C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Sicurezza dei sistemi informativi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30CC7A-C052-4052-BD7B-BC5EF2557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In ambito IT garantire la sicurezza di un sistema informativo significa garantirne: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riservatezza delle informazioni </a:t>
            </a:r>
            <a:r>
              <a:rPr lang="it-IT" dirty="0"/>
              <a:t>(</a:t>
            </a:r>
            <a:r>
              <a:rPr lang="it-IT" i="1" dirty="0" err="1"/>
              <a:t>confidentiality</a:t>
            </a:r>
            <a:r>
              <a:rPr lang="it-IT" dirty="0"/>
              <a:t>): solo chi è autorizzato deve poter accedere</a:t>
            </a:r>
            <a:br>
              <a:rPr lang="it-IT" dirty="0"/>
            </a:br>
            <a:r>
              <a:rPr lang="it-IT" dirty="0"/>
              <a:t>all’informazione;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integrità delle informazioni </a:t>
            </a:r>
            <a:r>
              <a:rPr lang="it-IT" dirty="0"/>
              <a:t>(</a:t>
            </a:r>
            <a:r>
              <a:rPr lang="it-IT" i="1" dirty="0" err="1"/>
              <a:t>integrity</a:t>
            </a:r>
            <a:r>
              <a:rPr lang="it-IT" dirty="0"/>
              <a:t>): le informazioni non devono essere danneggiate o</a:t>
            </a:r>
            <a:br>
              <a:rPr lang="it-IT" dirty="0"/>
            </a:br>
            <a:r>
              <a:rPr lang="it-IT" dirty="0"/>
              <a:t>modificate per caso o con intenzioni malevole;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disponibilità delle informazioni </a:t>
            </a:r>
            <a:r>
              <a:rPr lang="it-IT" dirty="0"/>
              <a:t>(</a:t>
            </a:r>
            <a:r>
              <a:rPr lang="it-IT" i="1" dirty="0" err="1"/>
              <a:t>availability</a:t>
            </a:r>
            <a:r>
              <a:rPr lang="it-IT" dirty="0"/>
              <a:t>): le informazioni devono essere sempre disponibili a chi è autorizzato ad utilizzarle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• Occuparsi di sicurezza informatica significa quindi predisporre </a:t>
            </a:r>
            <a:r>
              <a:rPr lang="it-IT" b="1" dirty="0"/>
              <a:t>politiche</a:t>
            </a:r>
            <a:r>
              <a:rPr lang="it-IT" dirty="0"/>
              <a:t>, </a:t>
            </a:r>
            <a:r>
              <a:rPr lang="it-IT" b="1" dirty="0"/>
              <a:t>processi</a:t>
            </a:r>
            <a:r>
              <a:rPr lang="it-IT" dirty="0"/>
              <a:t>, </a:t>
            </a:r>
            <a:r>
              <a:rPr lang="it-IT" b="1" dirty="0"/>
              <a:t>controlli </a:t>
            </a:r>
            <a:r>
              <a:rPr lang="it-IT" dirty="0"/>
              <a:t>e</a:t>
            </a:r>
            <a:br>
              <a:rPr lang="it-IT" dirty="0"/>
            </a:br>
            <a:r>
              <a:rPr lang="it-IT" b="1" dirty="0"/>
              <a:t>contromisure informatiche </a:t>
            </a:r>
            <a:r>
              <a:rPr lang="it-IT" dirty="0"/>
              <a:t>in grado di </a:t>
            </a:r>
            <a:r>
              <a:rPr lang="it-IT" b="1" dirty="0"/>
              <a:t>contrastare le minacce </a:t>
            </a:r>
            <a:r>
              <a:rPr lang="it-IT" dirty="0"/>
              <a:t>che rischiano di</a:t>
            </a:r>
            <a:br>
              <a:rPr lang="it-IT" dirty="0"/>
            </a:br>
            <a:r>
              <a:rPr lang="it-IT" dirty="0"/>
              <a:t>compromettere la riservatezza, l’integrità e la disponibilità delle informazioni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• Nell’ambito della sicurezza informatica l’oggetto più prezioso da proteggere è l’</a:t>
            </a:r>
            <a:r>
              <a:rPr lang="it-IT" b="1" dirty="0"/>
              <a:t>informazione</a:t>
            </a:r>
            <a:r>
              <a:rPr lang="it-IT" dirty="0"/>
              <a:t>,</a:t>
            </a:r>
            <a:br>
              <a:rPr lang="it-IT" dirty="0"/>
            </a:br>
            <a:r>
              <a:rPr lang="it-IT" dirty="0"/>
              <a:t>il </a:t>
            </a:r>
            <a:r>
              <a:rPr lang="it-IT" b="1" dirty="0"/>
              <a:t>dato</a:t>
            </a:r>
            <a:r>
              <a:rPr lang="it-IT" dirty="0"/>
              <a:t>, o il </a:t>
            </a:r>
            <a:r>
              <a:rPr lang="it-IT" b="1" dirty="0"/>
              <a:t>servizio di business </a:t>
            </a:r>
            <a:r>
              <a:rPr lang="it-IT" dirty="0"/>
              <a:t>erogato con il supporto del sistema informatico (es.: il valore</a:t>
            </a:r>
            <a:br>
              <a:rPr lang="it-IT" dirty="0"/>
            </a:br>
            <a:r>
              <a:rPr lang="it-IT" dirty="0"/>
              <a:t>di un computer non è dato solo dal suo prezzo di acquisto, ma soprattutto dall’importanza</a:t>
            </a:r>
            <a:br>
              <a:rPr lang="it-IT" dirty="0"/>
            </a:br>
            <a:r>
              <a:rPr lang="it-IT" dirty="0"/>
              <a:t>del dato che gestisce e del servizio che eroga)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351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98BB0F-81A2-4D7D-97E9-D6A72A9C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Sicurezza dei sistemi informativi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30CC7A-C052-4052-BD7B-BC5EF2557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47493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/>
              <a:t>• Perché si adottano delle misure di sicurezza? Da cosa ci si vuole proteggere?</a:t>
            </a: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dirty="0"/>
              <a:t>• Le </a:t>
            </a:r>
            <a:r>
              <a:rPr lang="it-IT" b="1" dirty="0"/>
              <a:t>minacce per un sistema informativo </a:t>
            </a:r>
            <a:r>
              <a:rPr lang="it-IT" dirty="0"/>
              <a:t>sono di diversi tipi: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catastrofi naturali </a:t>
            </a:r>
            <a:r>
              <a:rPr lang="it-IT" dirty="0"/>
              <a:t>e </a:t>
            </a:r>
            <a:r>
              <a:rPr lang="it-IT" b="1" dirty="0"/>
              <a:t>incidenti </a:t>
            </a:r>
            <a:r>
              <a:rPr lang="it-IT" dirty="0"/>
              <a:t>imprevisti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aggressione da parte di hacker</a:t>
            </a:r>
            <a:r>
              <a:rPr lang="it-IT" dirty="0"/>
              <a:t>, ossia da parte di soggetti esterni intenzionati a compromettere la</a:t>
            </a:r>
            <a:br>
              <a:rPr lang="it-IT" dirty="0"/>
            </a:br>
            <a:r>
              <a:rPr lang="it-IT" dirty="0"/>
              <a:t>sicurezza del sistema informativo: per danneggiare l’azienda sottraendo informazioni,</a:t>
            </a:r>
            <a:br>
              <a:rPr lang="it-IT" dirty="0"/>
            </a:br>
            <a:r>
              <a:rPr lang="it-IT" dirty="0"/>
              <a:t>compromettendo le informazioni o rendendole indisponibili e in questo modo impedendo la</a:t>
            </a:r>
            <a:br>
              <a:rPr lang="it-IT" dirty="0"/>
            </a:br>
            <a:r>
              <a:rPr lang="it-IT" dirty="0"/>
              <a:t>corretta erogazione di un servizio di business o la realizzazione di un prodotti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software malevolo</a:t>
            </a:r>
            <a:r>
              <a:rPr lang="it-IT" dirty="0"/>
              <a:t>, come virus o malware, in grado di danneggiare i dati o i sistemi informatici,</a:t>
            </a:r>
            <a:br>
              <a:rPr lang="it-IT" dirty="0"/>
            </a:br>
            <a:r>
              <a:rPr lang="it-IT" dirty="0"/>
              <a:t>anche solo deteriorandone le performance</a:t>
            </a:r>
            <a:br>
              <a:rPr lang="it-IT" dirty="0"/>
            </a:br>
            <a:endParaRPr lang="it-IT" b="1" dirty="0"/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attività scorrette e illecite </a:t>
            </a:r>
            <a:r>
              <a:rPr lang="it-IT" dirty="0"/>
              <a:t>da parte di personale interno all’organizzazione aziendale, dipendenti e</a:t>
            </a:r>
            <a:br>
              <a:rPr lang="it-IT" dirty="0"/>
            </a:br>
            <a:r>
              <a:rPr lang="it-IT" dirty="0"/>
              <a:t>collaboratori dell’azienda, talvolta effettuate inconsapevolmente</a:t>
            </a: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dirty="0"/>
              <a:t>• Tali minacce sono in grado di provocare un danno al business aziendale, attraverso:</a:t>
            </a:r>
            <a:br>
              <a:rPr lang="it-IT" dirty="0"/>
            </a:br>
            <a:r>
              <a:rPr lang="it-IT" dirty="0"/>
              <a:t>– la </a:t>
            </a:r>
            <a:r>
              <a:rPr lang="it-IT" b="1" dirty="0"/>
              <a:t>compromissione dei sistemi informatici </a:t>
            </a:r>
            <a:r>
              <a:rPr lang="it-IT" dirty="0"/>
              <a:t>che consentono all’azienda di erogare un servizio ai</a:t>
            </a:r>
            <a:br>
              <a:rPr lang="it-IT" dirty="0"/>
            </a:br>
            <a:r>
              <a:rPr lang="it-IT" dirty="0"/>
              <a:t>propri clienti;</a:t>
            </a:r>
            <a:br>
              <a:rPr lang="it-IT" dirty="0"/>
            </a:br>
            <a:r>
              <a:rPr lang="it-IT" dirty="0"/>
              <a:t>– la </a:t>
            </a:r>
            <a:r>
              <a:rPr lang="it-IT" b="1" dirty="0"/>
              <a:t>fuga di notizie riservate</a:t>
            </a:r>
            <a:r>
              <a:rPr lang="it-IT" dirty="0"/>
              <a:t>, che potrebbero danneggiare direttamente l’azienda (es.: dati</a:t>
            </a:r>
            <a:br>
              <a:rPr lang="it-IT" dirty="0"/>
            </a:br>
            <a:r>
              <a:rPr lang="it-IT" dirty="0"/>
              <a:t>commerciali o brevetti) o i suoi clienti (es.: numeri di carte di credito o informazioni sanitarie)</a:t>
            </a:r>
            <a:br>
              <a:rPr lang="it-IT" dirty="0"/>
            </a:br>
            <a:r>
              <a:rPr lang="it-IT" dirty="0"/>
              <a:t>– la </a:t>
            </a:r>
            <a:r>
              <a:rPr lang="it-IT" b="1" dirty="0"/>
              <a:t>modifica o la cancellazione di dati rilevanti </a:t>
            </a:r>
            <a:r>
              <a:rPr lang="it-IT" dirty="0"/>
              <a:t>(es.: spostamento di valori economici sui conti</a:t>
            </a:r>
            <a:br>
              <a:rPr lang="it-IT" dirty="0"/>
            </a:br>
            <a:r>
              <a:rPr lang="it-IT" dirty="0"/>
              <a:t>bancari o su conti assicurativi o previdenziali) 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146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E14608B-6065-4635-A19A-625E8E92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12" y="0"/>
            <a:ext cx="8722815" cy="64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9D717AA-B639-41B0-A8DA-9A251118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47" y="175177"/>
            <a:ext cx="9598557" cy="650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8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2BDC8-DA19-414B-8855-DB46C854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Alcuni tipi di attacco informatico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B81C6C-2F75-47B5-8C30-36AC9DA0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Attacchi in grado di sfruttare specifiche </a:t>
            </a:r>
            <a:r>
              <a:rPr lang="it-IT" b="1" dirty="0"/>
              <a:t>debolezze di un programma software</a:t>
            </a:r>
            <a:br>
              <a:rPr lang="it-IT" b="1" dirty="0"/>
            </a:br>
            <a:r>
              <a:rPr lang="it-IT" dirty="0"/>
              <a:t>– </a:t>
            </a:r>
            <a:r>
              <a:rPr lang="it-IT" b="1" dirty="0"/>
              <a:t>Exploit</a:t>
            </a:r>
            <a:r>
              <a:rPr lang="it-IT" dirty="0"/>
              <a:t>: sfruttando un bug o una “vulnerabilità” del software, l’attaccante riesce a far eseguire il</a:t>
            </a:r>
            <a:br>
              <a:rPr lang="it-IT" dirty="0"/>
            </a:br>
            <a:r>
              <a:rPr lang="it-IT" dirty="0"/>
              <a:t>codice di un programma al target sotto attacco, in modo da danneggiare le informazioni,</a:t>
            </a:r>
            <a:br>
              <a:rPr lang="it-IT" dirty="0"/>
            </a:br>
            <a:r>
              <a:rPr lang="it-IT" dirty="0"/>
              <a:t>comprometterne la riservatezza o acquisire privilegi elevati sulla macchina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Shell code</a:t>
            </a:r>
            <a:r>
              <a:rPr lang="it-IT" dirty="0"/>
              <a:t>: è un attacco che mediante un exploit riesce ad eseguire una shell del sistema operativo sulla macchina target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Buffer overflow </a:t>
            </a:r>
            <a:r>
              <a:rPr lang="it-IT" dirty="0"/>
              <a:t>(anche </a:t>
            </a:r>
            <a:r>
              <a:rPr lang="it-IT" dirty="0" err="1"/>
              <a:t>stack</a:t>
            </a:r>
            <a:r>
              <a:rPr lang="it-IT" dirty="0"/>
              <a:t> overflow, heap overflow): è un attacco che, saturando un’area di</a:t>
            </a:r>
            <a:br>
              <a:rPr lang="it-IT" dirty="0"/>
            </a:br>
            <a:r>
              <a:rPr lang="it-IT" dirty="0"/>
              <a:t>memoria della macchina, sovrascrive la memoria adiacente, compromettendo il corretto</a:t>
            </a:r>
            <a:br>
              <a:rPr lang="it-IT" dirty="0"/>
            </a:br>
            <a:r>
              <a:rPr lang="it-IT" dirty="0"/>
              <a:t>funzionamento del programma o dell’intero sistema; tipicamente sono dovuti ad una inadeguata</a:t>
            </a:r>
            <a:br>
              <a:rPr lang="it-IT" dirty="0"/>
            </a:br>
            <a:r>
              <a:rPr lang="it-IT" dirty="0"/>
              <a:t>gestione dell’input da parte del programma, che accetta quantità di dati in ingresso tali da saturare la memoria dedicata al processo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Cracking</a:t>
            </a:r>
            <a:r>
              <a:rPr lang="it-IT" dirty="0"/>
              <a:t>: modifica software con l’obiettivo di rimuovere un codice di protezione di un programma o di accedere ad aree protette del sistema; viene effettuato eseguendo il </a:t>
            </a:r>
            <a:r>
              <a:rPr lang="it-IT" i="1" dirty="0"/>
              <a:t>reverse engineering </a:t>
            </a:r>
            <a:r>
              <a:rPr lang="it-IT" dirty="0"/>
              <a:t>del codice binario di un programma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936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2BDC8-DA19-414B-8855-DB46C854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Alcuni tipi di attacco informatico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B81C6C-2F75-47B5-8C30-36AC9DA0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955"/>
            <a:ext cx="10515600" cy="5195920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• Attacchi in grado di sfruttare </a:t>
            </a:r>
            <a:r>
              <a:rPr lang="it-IT" b="1" dirty="0"/>
              <a:t>connessioni di rete </a:t>
            </a:r>
            <a:r>
              <a:rPr lang="it-IT" dirty="0"/>
              <a:t>e porte TCP di accesso al sistema target o di</a:t>
            </a:r>
            <a:br>
              <a:rPr lang="it-IT" dirty="0"/>
            </a:br>
            <a:r>
              <a:rPr lang="it-IT" dirty="0"/>
              <a:t>intervenire sul traffico di rete: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Backdoor</a:t>
            </a:r>
            <a:r>
              <a:rPr lang="it-IT" dirty="0"/>
              <a:t>: è una tecnica di attacco ad un sistema informatico che sfrutta porte “nascoste”, ma</a:t>
            </a:r>
            <a:br>
              <a:rPr lang="it-IT" dirty="0"/>
            </a:br>
            <a:r>
              <a:rPr lang="it-IT" dirty="0"/>
              <a:t>lasciate aperte da chi gestisce il sistema per eseguire più agevolmente operazioni di manutenzione</a:t>
            </a:r>
            <a:br>
              <a:rPr lang="it-IT" dirty="0"/>
            </a:br>
            <a:r>
              <a:rPr lang="it-IT" dirty="0"/>
              <a:t>del sistema; una backdoor può anche essere attivata mediante un programma “trojan” che crea una</a:t>
            </a:r>
            <a:br>
              <a:rPr lang="it-IT" dirty="0"/>
            </a:br>
            <a:r>
              <a:rPr lang="it-IT" dirty="0"/>
              <a:t>porta di accesso via rete al computer attivando un servizio non autorizzato in ascolto su una</a:t>
            </a:r>
            <a:br>
              <a:rPr lang="it-IT" dirty="0"/>
            </a:br>
            <a:r>
              <a:rPr lang="it-IT" dirty="0"/>
              <a:t>specifica porta TCP o UDP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Port scanning</a:t>
            </a:r>
            <a:r>
              <a:rPr lang="it-IT" dirty="0"/>
              <a:t>: scansione di tutte le possibili porte TCP/UDP aperte su un </a:t>
            </a:r>
            <a:r>
              <a:rPr lang="it-IT" dirty="0" err="1"/>
              <a:t>host</a:t>
            </a:r>
            <a:r>
              <a:rPr lang="it-IT" dirty="0"/>
              <a:t>, al fine di studiarne la</a:t>
            </a:r>
            <a:br>
              <a:rPr lang="it-IT" dirty="0"/>
            </a:br>
            <a:r>
              <a:rPr lang="it-IT" dirty="0"/>
              <a:t>configurazione e individuarne delle debolezze o dei punti di attacco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Sniffing</a:t>
            </a:r>
            <a:r>
              <a:rPr lang="it-IT" dirty="0"/>
              <a:t>: intercettazione dei pacchetti che viaggiano sulla rete a cui è connesso il computer</a:t>
            </a:r>
            <a:br>
              <a:rPr lang="it-IT" dirty="0"/>
            </a:br>
            <a:r>
              <a:rPr lang="it-IT" dirty="0"/>
              <a:t>dell’attaccante; l’obiettivo è quello di carpire informazioni riservate trasmesse “in chiaro”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 err="1"/>
              <a:t>Keylogging</a:t>
            </a:r>
            <a:r>
              <a:rPr lang="it-IT" dirty="0"/>
              <a:t>: intercettazione (mediante software malware o dispositivi hardware collegati al</a:t>
            </a:r>
            <a:br>
              <a:rPr lang="it-IT" dirty="0"/>
            </a:br>
            <a:r>
              <a:rPr lang="it-IT" dirty="0"/>
              <a:t>computer attaccato) dei dati digitati sulla tastiera dall’utente durante una normale sessione di</a:t>
            </a:r>
            <a:br>
              <a:rPr lang="it-IT" dirty="0"/>
            </a:br>
            <a:r>
              <a:rPr lang="it-IT" dirty="0"/>
              <a:t>lavoro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Spoofing</a:t>
            </a:r>
            <a:r>
              <a:rPr lang="it-IT" dirty="0"/>
              <a:t>: si tenta di accedere ad un </a:t>
            </a:r>
            <a:r>
              <a:rPr lang="it-IT" dirty="0" err="1"/>
              <a:t>host</a:t>
            </a:r>
            <a:r>
              <a:rPr lang="it-IT" dirty="0"/>
              <a:t>, falsificando l’identità del computer dell’attaccante</a:t>
            </a:r>
            <a:br>
              <a:rPr lang="it-IT" dirty="0"/>
            </a:br>
            <a:r>
              <a:rPr lang="it-IT" dirty="0"/>
              <a:t>(indirizzo IP, MAC </a:t>
            </a:r>
            <a:r>
              <a:rPr lang="it-IT" dirty="0" err="1"/>
              <a:t>address</a:t>
            </a:r>
            <a:r>
              <a:rPr lang="it-IT" dirty="0"/>
              <a:t>, </a:t>
            </a:r>
            <a:r>
              <a:rPr lang="it-IT" dirty="0" err="1"/>
              <a:t>hostname</a:t>
            </a:r>
            <a:r>
              <a:rPr lang="it-IT" dirty="0"/>
              <a:t> DNS, ecc.)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 err="1"/>
              <a:t>DoS</a:t>
            </a:r>
            <a:r>
              <a:rPr lang="it-IT" dirty="0"/>
              <a:t>/</a:t>
            </a:r>
            <a:r>
              <a:rPr lang="it-IT" b="1" dirty="0" err="1"/>
              <a:t>DDoS</a:t>
            </a:r>
            <a:r>
              <a:rPr lang="it-IT" dirty="0"/>
              <a:t>: </a:t>
            </a:r>
            <a:r>
              <a:rPr lang="it-IT" i="1" dirty="0" err="1"/>
              <a:t>Denial</a:t>
            </a:r>
            <a:r>
              <a:rPr lang="it-IT" i="1" dirty="0"/>
              <a:t> of Service</a:t>
            </a:r>
            <a:r>
              <a:rPr lang="it-IT" dirty="0"/>
              <a:t>/</a:t>
            </a:r>
            <a:r>
              <a:rPr lang="it-IT" i="1" dirty="0"/>
              <a:t>Distributed </a:t>
            </a:r>
            <a:r>
              <a:rPr lang="it-IT" i="1" dirty="0" err="1"/>
              <a:t>Denial</a:t>
            </a:r>
            <a:r>
              <a:rPr lang="it-IT" i="1" dirty="0"/>
              <a:t> of Service</a:t>
            </a:r>
            <a:r>
              <a:rPr lang="it-IT" dirty="0"/>
              <a:t>, sono attacchi provenienti da uno (</a:t>
            </a:r>
            <a:r>
              <a:rPr lang="it-IT" dirty="0" err="1"/>
              <a:t>DoS</a:t>
            </a:r>
            <a:r>
              <a:rPr lang="it-IT" dirty="0"/>
              <a:t>) o</a:t>
            </a:r>
            <a:br>
              <a:rPr lang="it-IT" dirty="0"/>
            </a:br>
            <a:r>
              <a:rPr lang="it-IT" dirty="0"/>
              <a:t>più computer (</a:t>
            </a:r>
            <a:r>
              <a:rPr lang="it-IT" dirty="0" err="1"/>
              <a:t>DDoS</a:t>
            </a:r>
            <a:r>
              <a:rPr lang="it-IT" dirty="0"/>
              <a:t>) collegati alla rete, che, utilizzando porte di connessione del server sotto</a:t>
            </a:r>
            <a:br>
              <a:rPr lang="it-IT" dirty="0"/>
            </a:br>
            <a:r>
              <a:rPr lang="it-IT" dirty="0"/>
              <a:t>attacco, note e aperte per l’erogazione di servizi, mirano a saturarne le risorse (es.: numero di</a:t>
            </a:r>
            <a:br>
              <a:rPr lang="it-IT" dirty="0"/>
            </a:br>
            <a:r>
              <a:rPr lang="it-IT" dirty="0"/>
              <a:t>connessioni contemporanee gestibili dal server) fino a rendere non più fruibili i servizi erogati dal</a:t>
            </a:r>
            <a:br>
              <a:rPr lang="it-IT" dirty="0"/>
            </a:br>
            <a:r>
              <a:rPr lang="it-IT" dirty="0"/>
              <a:t>server 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187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2BDC8-DA19-414B-8855-DB46C854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Alcuni tipi di attacco informatico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B81C6C-2F75-47B5-8C30-36AC9DA0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955"/>
            <a:ext cx="10515600" cy="5195920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• Attacchi condotti con l’utilizzo di </a:t>
            </a:r>
            <a:r>
              <a:rPr lang="it-IT" b="1" dirty="0"/>
              <a:t>software malevolo </a:t>
            </a:r>
            <a:r>
              <a:rPr lang="it-IT" dirty="0"/>
              <a:t>(malware, virus, ...)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Malware</a:t>
            </a:r>
            <a:r>
              <a:rPr lang="it-IT" dirty="0"/>
              <a:t>: è genericamente un software che opera con l’intenzione di violare la protezione delle</a:t>
            </a:r>
            <a:br>
              <a:rPr lang="it-IT" dirty="0"/>
            </a:br>
            <a:r>
              <a:rPr lang="it-IT" dirty="0"/>
              <a:t>informazioni presenti su un computer per eliminarle o trafugarle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Trojan </a:t>
            </a:r>
            <a:r>
              <a:rPr lang="it-IT" b="1" dirty="0" err="1"/>
              <a:t>Horse</a:t>
            </a:r>
            <a:r>
              <a:rPr lang="it-IT" dirty="0"/>
              <a:t>: è un software che viene eseguito inconsapevolmente dall’utente sul proprio computer e,</a:t>
            </a:r>
            <a:br>
              <a:rPr lang="it-IT" dirty="0"/>
            </a:br>
            <a:r>
              <a:rPr lang="it-IT" dirty="0"/>
              <a:t>così facendo, provoca l’apertura di una porta TCP che viene sfruttata dall’attaccante per accedere al</a:t>
            </a:r>
            <a:br>
              <a:rPr lang="it-IT" dirty="0"/>
            </a:br>
            <a:r>
              <a:rPr lang="it-IT" dirty="0"/>
              <a:t>computer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Virus</a:t>
            </a:r>
            <a:r>
              <a:rPr lang="it-IT" dirty="0"/>
              <a:t>: sono software che danneggiano i dati presenti sul computer e che hanno la capacità di attivarsi</a:t>
            </a:r>
            <a:br>
              <a:rPr lang="it-IT" dirty="0"/>
            </a:br>
            <a:r>
              <a:rPr lang="it-IT" dirty="0"/>
              <a:t>agganciandosi ad un programma non malevolo, modificandone il codice binario; ogni volta che il</a:t>
            </a:r>
            <a:br>
              <a:rPr lang="it-IT" dirty="0"/>
            </a:br>
            <a:r>
              <a:rPr lang="it-IT" dirty="0"/>
              <a:t>programma “contagiato” viene eseguito, viene eseguito anche il virus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Spyware</a:t>
            </a:r>
            <a:r>
              <a:rPr lang="it-IT" dirty="0"/>
              <a:t>: software che inviano a destinatari esterni e non autorizzati, informazioni presenti sul computer</a:t>
            </a:r>
            <a:br>
              <a:rPr lang="it-IT" dirty="0"/>
            </a:br>
            <a:r>
              <a:rPr lang="it-IT" dirty="0"/>
              <a:t>su cui è installato lo Spyware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 err="1"/>
              <a:t>Ransonware</a:t>
            </a:r>
            <a:r>
              <a:rPr lang="it-IT" dirty="0"/>
              <a:t>: software che limita l’uso del sistema eseguendo la cifratura dei dati e richiedendo un riscatto</a:t>
            </a:r>
            <a:br>
              <a:rPr lang="it-IT" dirty="0"/>
            </a:br>
            <a:r>
              <a:rPr lang="it-IT" dirty="0"/>
              <a:t>per ottenere la chiave con cui decifrare i dati (o l’intero filesystem del computer)</a:t>
            </a:r>
            <a:br>
              <a:rPr lang="it-IT" dirty="0"/>
            </a:br>
            <a:endParaRPr lang="it-IT" dirty="0"/>
          </a:p>
          <a:p>
            <a:r>
              <a:rPr lang="it-IT" dirty="0"/>
              <a:t>• Attacchi di </a:t>
            </a:r>
            <a:r>
              <a:rPr lang="it-IT" b="1" dirty="0"/>
              <a:t>social </a:t>
            </a:r>
            <a:r>
              <a:rPr lang="it-IT" b="1" dirty="0" err="1"/>
              <a:t>egineering</a:t>
            </a:r>
            <a:r>
              <a:rPr lang="it-IT" dirty="0"/>
              <a:t>, con l’obiettivo di sfruttare la scarsa consapevolezza della</a:t>
            </a:r>
            <a:br>
              <a:rPr lang="it-IT" dirty="0"/>
            </a:br>
            <a:r>
              <a:rPr lang="it-IT" dirty="0"/>
              <a:t>riservatezza delle informazioni apparentemente non critiche da parte del personale di</a:t>
            </a:r>
            <a:br>
              <a:rPr lang="it-IT" dirty="0"/>
            </a:br>
            <a:r>
              <a:rPr lang="it-IT" dirty="0"/>
              <a:t>un’organizzazione, per accedere ad informazioni riservate</a:t>
            </a:r>
            <a:br>
              <a:rPr lang="it-IT" dirty="0"/>
            </a:br>
            <a:r>
              <a:rPr lang="it-IT" dirty="0"/>
              <a:t>– Le tecniche di social engineering prevedono anche l’acquisizione di </a:t>
            </a:r>
            <a:r>
              <a:rPr lang="it-IT" b="1" dirty="0"/>
              <a:t>materiale di scarto </a:t>
            </a:r>
            <a:r>
              <a:rPr lang="it-IT" dirty="0"/>
              <a:t>(fogli stampati,</a:t>
            </a:r>
            <a:br>
              <a:rPr lang="it-IT" dirty="0"/>
            </a:br>
            <a:r>
              <a:rPr lang="it-IT" dirty="0"/>
              <a:t>dischetti, CD, DVD, hard disk dismessi, per acquisire informazioni utili a portare a termine un attacco al</a:t>
            </a:r>
            <a:br>
              <a:rPr lang="it-IT" dirty="0"/>
            </a:br>
            <a:r>
              <a:rPr lang="it-IT" dirty="0"/>
              <a:t>sistema informativo</a:t>
            </a:r>
            <a:br>
              <a:rPr lang="it-IT" dirty="0"/>
            </a:br>
            <a:r>
              <a:rPr lang="it-IT" dirty="0"/>
              <a:t>– Altre tecniche consistono nel fornire </a:t>
            </a:r>
            <a:r>
              <a:rPr lang="it-IT" b="1" dirty="0"/>
              <a:t>strumenti dotati di Trojan </a:t>
            </a:r>
            <a:r>
              <a:rPr lang="it-IT" dirty="0"/>
              <a:t>che vengono poi inseriti</a:t>
            </a:r>
            <a:br>
              <a:rPr lang="it-IT" dirty="0"/>
            </a:br>
            <a:r>
              <a:rPr lang="it-IT" dirty="0"/>
              <a:t>inconsapevolmente dagli utenti sui loro computer</a:t>
            </a:r>
            <a:br>
              <a:rPr lang="it-IT" dirty="0"/>
            </a:br>
            <a:r>
              <a:rPr lang="it-IT" dirty="0"/>
              <a:t>– Tecniche di social engineering/social hacking sono usate per compiere </a:t>
            </a:r>
            <a:r>
              <a:rPr lang="it-IT" b="1" dirty="0"/>
              <a:t>furti d’identità</a:t>
            </a:r>
            <a:r>
              <a:rPr lang="it-IT" dirty="0"/>
              <a:t>, trafugando le</a:t>
            </a:r>
            <a:br>
              <a:rPr lang="it-IT" dirty="0"/>
            </a:br>
            <a:r>
              <a:rPr lang="it-IT" dirty="0"/>
              <a:t>credenziali di un utente (a sua insaputa), per poi accedere al sistema attraverso canali standard 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650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011900A-5260-47AB-9C43-12C5F0FA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323850"/>
            <a:ext cx="10125075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5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D1526-7AEE-4B39-9363-8F99FA3D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fisica di un sistema informatico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6CBE0F-6F4A-4D4A-99D3-26E4A0B41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La sicurezza fisica del sistema informativo riguarda prevalentemente: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sicurezza dell’edificio </a:t>
            </a:r>
            <a:r>
              <a:rPr lang="it-IT" dirty="0"/>
              <a:t>che ospita il sistema informativo:</a:t>
            </a:r>
            <a:br>
              <a:rPr lang="it-IT" dirty="0"/>
            </a:br>
            <a:r>
              <a:rPr lang="it-IT" dirty="0"/>
              <a:t>• guardia</a:t>
            </a:r>
            <a:br>
              <a:rPr lang="it-IT" dirty="0"/>
            </a:br>
            <a:r>
              <a:rPr lang="it-IT" dirty="0"/>
              <a:t>• telecamere di videosorveglianza e sistemi di registrazione video</a:t>
            </a:r>
            <a:br>
              <a:rPr lang="it-IT" dirty="0"/>
            </a:br>
            <a:r>
              <a:rPr lang="it-IT" dirty="0"/>
              <a:t>• locali ad accesso riservato con porte blindate</a:t>
            </a:r>
            <a:br>
              <a:rPr lang="it-IT" dirty="0"/>
            </a:br>
            <a:r>
              <a:rPr lang="it-IT" dirty="0"/>
              <a:t>– controlli di </a:t>
            </a:r>
            <a:r>
              <a:rPr lang="it-IT" b="1" dirty="0"/>
              <a:t>accesso delle persone </a:t>
            </a:r>
            <a:r>
              <a:rPr lang="it-IT" dirty="0"/>
              <a:t>all’edificio</a:t>
            </a:r>
            <a:br>
              <a:rPr lang="it-IT" dirty="0"/>
            </a:br>
            <a:r>
              <a:rPr lang="it-IT" dirty="0"/>
              <a:t>• guardiania e personale di portineria</a:t>
            </a:r>
            <a:br>
              <a:rPr lang="it-IT" dirty="0"/>
            </a:br>
            <a:r>
              <a:rPr lang="it-IT" dirty="0"/>
              <a:t>• sistemi di identificazione e di controllo degli accessi delle persone (con badge personale o dati biometrici)</a:t>
            </a:r>
            <a:br>
              <a:rPr lang="it-IT" dirty="0"/>
            </a:br>
            <a:r>
              <a:rPr lang="it-IT" dirty="0"/>
              <a:t>• processi di accertamento dell’identità e rilascio di chiavi o badge di accesso</a:t>
            </a:r>
            <a:br>
              <a:rPr lang="it-IT" dirty="0"/>
            </a:br>
            <a:r>
              <a:rPr lang="it-IT" dirty="0"/>
              <a:t>• sistemi antifurto o di rilevazione della presenza in locali riservati</a:t>
            </a:r>
            <a:br>
              <a:rPr lang="it-IT" dirty="0"/>
            </a:br>
            <a:r>
              <a:rPr lang="it-IT" dirty="0"/>
              <a:t>– sistemi </a:t>
            </a:r>
            <a:r>
              <a:rPr lang="it-IT" b="1" dirty="0"/>
              <a:t>anti-incendio </a:t>
            </a:r>
            <a:r>
              <a:rPr lang="it-IT" dirty="0"/>
              <a:t>e </a:t>
            </a:r>
            <a:r>
              <a:rPr lang="it-IT" b="1" dirty="0"/>
              <a:t>anti-allagamento</a:t>
            </a:r>
            <a:br>
              <a:rPr lang="it-IT" b="1" dirty="0"/>
            </a:br>
            <a:r>
              <a:rPr lang="it-IT" dirty="0"/>
              <a:t>• rilevatori di fumo e fiamme</a:t>
            </a:r>
            <a:br>
              <a:rPr lang="it-IT" dirty="0"/>
            </a:br>
            <a:r>
              <a:rPr lang="it-IT" dirty="0"/>
              <a:t>• sistema automatico di allarme e dispositivi anti-incendio</a:t>
            </a:r>
            <a:br>
              <a:rPr lang="it-IT" dirty="0"/>
            </a:br>
            <a:r>
              <a:rPr lang="it-IT" dirty="0"/>
              <a:t>• porte, pareti, materiali, armadi ignifughi</a:t>
            </a:r>
            <a:br>
              <a:rPr lang="it-IT" dirty="0"/>
            </a:br>
            <a:r>
              <a:rPr lang="it-IT" dirty="0"/>
              <a:t>– sistemi di </a:t>
            </a:r>
            <a:r>
              <a:rPr lang="it-IT" b="1" dirty="0"/>
              <a:t>business </a:t>
            </a:r>
            <a:r>
              <a:rPr lang="it-IT" b="1" dirty="0" err="1"/>
              <a:t>continuity</a:t>
            </a:r>
            <a:r>
              <a:rPr lang="it-IT" b="1" dirty="0"/>
              <a:t> </a:t>
            </a:r>
            <a:r>
              <a:rPr lang="it-IT" dirty="0"/>
              <a:t>e di </a:t>
            </a:r>
            <a:r>
              <a:rPr lang="it-IT" b="1" dirty="0" err="1"/>
              <a:t>disaster</a:t>
            </a:r>
            <a:r>
              <a:rPr lang="it-IT" b="1" dirty="0"/>
              <a:t> recovery</a:t>
            </a:r>
            <a:br>
              <a:rPr lang="it-IT" b="1" dirty="0"/>
            </a:br>
            <a:r>
              <a:rPr lang="it-IT" dirty="0"/>
              <a:t>• gruppi di continuità elettrica e procedure di spegnimento sicuro dei sistemi in caso di prolungata assenza di</a:t>
            </a:r>
            <a:br>
              <a:rPr lang="it-IT" dirty="0"/>
            </a:br>
            <a:r>
              <a:rPr lang="it-IT" dirty="0"/>
              <a:t>energia elettrica</a:t>
            </a:r>
            <a:br>
              <a:rPr lang="it-IT" dirty="0"/>
            </a:br>
            <a:r>
              <a:rPr lang="it-IT" dirty="0"/>
              <a:t>• sistemi di climatizzazione dei locali CED al fine di garantire la corretta temperatura di esercizio dei sistemi</a:t>
            </a:r>
            <a:br>
              <a:rPr lang="it-IT" dirty="0"/>
            </a:br>
            <a:r>
              <a:rPr lang="it-IT" dirty="0"/>
              <a:t>• sistemi di ridondanza elettrica, di componenti hardware informatiche, di connessione di rete</a:t>
            </a:r>
            <a:br>
              <a:rPr lang="it-IT" dirty="0"/>
            </a:br>
            <a:r>
              <a:rPr lang="it-IT" dirty="0"/>
              <a:t>• piano di ripristino dei sistemi e delle </a:t>
            </a:r>
            <a:r>
              <a:rPr lang="it-IT" dirty="0" err="1"/>
              <a:t>attvità</a:t>
            </a:r>
            <a:r>
              <a:rPr lang="it-IT" dirty="0"/>
              <a:t> in locali diversi e distanti da quelli del “sito primario” in caso di</a:t>
            </a:r>
            <a:br>
              <a:rPr lang="it-IT" dirty="0"/>
            </a:br>
            <a:r>
              <a:rPr lang="it-IT" dirty="0"/>
              <a:t>disastro (“sito secondario” o “sito di </a:t>
            </a:r>
            <a:r>
              <a:rPr lang="it-IT" dirty="0" err="1"/>
              <a:t>disaster</a:t>
            </a:r>
            <a:r>
              <a:rPr lang="it-IT" dirty="0"/>
              <a:t> recovery”)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3439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D1526-7AEE-4B39-9363-8F99FA3D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fisica di un sistema informatico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6CBE0F-6F4A-4D4A-99D3-26E4A0B41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• </a:t>
            </a:r>
            <a:r>
              <a:rPr lang="it-IT" b="1" dirty="0"/>
              <a:t>Sicurezza perimetrale</a:t>
            </a:r>
            <a:br>
              <a:rPr lang="it-IT" b="1" dirty="0"/>
            </a:br>
            <a:r>
              <a:rPr lang="it-IT" dirty="0"/>
              <a:t>– l’insieme degli strumenti e delle tecniche utilizzate per impedire accessi non autorizzati alla rete</a:t>
            </a:r>
            <a:br>
              <a:rPr lang="it-IT" dirty="0"/>
            </a:br>
            <a:r>
              <a:rPr lang="it-IT" dirty="0"/>
              <a:t>aziendale dall’esterno o attacchi informatici che possano compromettere l’erogazione di servizi</a:t>
            </a:r>
            <a:br>
              <a:rPr lang="it-IT" dirty="0"/>
            </a:br>
            <a:r>
              <a:rPr lang="it-IT" dirty="0"/>
              <a:t>– in questo ambito le contromisure sono strumenti che analizzano i pacchetti che viaggiano in rete</a:t>
            </a:r>
            <a:br>
              <a:rPr lang="it-IT" dirty="0"/>
            </a:br>
            <a:r>
              <a:rPr lang="it-IT" dirty="0"/>
              <a:t>bloccando quelli sospetti o attivando degli allarmi in loro presenza</a:t>
            </a:r>
            <a:br>
              <a:rPr lang="it-IT" dirty="0"/>
            </a:br>
            <a:r>
              <a:rPr lang="it-IT" dirty="0"/>
              <a:t>• </a:t>
            </a:r>
            <a:r>
              <a:rPr lang="it-IT" b="1" dirty="0"/>
              <a:t>Sicurezza degli end-point</a:t>
            </a:r>
            <a:br>
              <a:rPr lang="it-IT" b="1" dirty="0"/>
            </a:br>
            <a:r>
              <a:rPr lang="it-IT" dirty="0"/>
              <a:t>– l’insieme degli strumenti e delle tecniche usate per proteggere i computer e gli altri dispositivi di</a:t>
            </a:r>
            <a:br>
              <a:rPr lang="it-IT" dirty="0"/>
            </a:br>
            <a:r>
              <a:rPr lang="it-IT" dirty="0"/>
              <a:t>tipo “end-point”, ossia le foglie del grafo della rete informatica aziendale, costituite dai personal</a:t>
            </a:r>
            <a:br>
              <a:rPr lang="it-IT" dirty="0"/>
            </a:br>
            <a:r>
              <a:rPr lang="it-IT" dirty="0"/>
              <a:t>computer e dagli altri dispositivi connessi in rete</a:t>
            </a:r>
            <a:br>
              <a:rPr lang="it-IT" dirty="0"/>
            </a:br>
            <a:r>
              <a:rPr lang="it-IT" dirty="0"/>
              <a:t>– in questo ambito si opera attraverso apposite configurazioni del sistema operativo della macchina</a:t>
            </a:r>
            <a:br>
              <a:rPr lang="it-IT" dirty="0"/>
            </a:br>
            <a:r>
              <a:rPr lang="it-IT" dirty="0"/>
              <a:t>end-point (</a:t>
            </a:r>
            <a:r>
              <a:rPr lang="it-IT" i="1" dirty="0" err="1"/>
              <a:t>hardening</a:t>
            </a:r>
            <a:r>
              <a:rPr lang="it-IT" i="1" dirty="0"/>
              <a:t> </a:t>
            </a:r>
            <a:r>
              <a:rPr lang="it-IT" dirty="0"/>
              <a:t>della configurazione, cifratura dei volumi), attraverso l’aggiornamento</a:t>
            </a:r>
            <a:br>
              <a:rPr lang="it-IT" dirty="0"/>
            </a:br>
            <a:r>
              <a:rPr lang="it-IT" dirty="0"/>
              <a:t>software continuo, l’applicazione di patch di sicurezza e mediante l’installazione di software </a:t>
            </a:r>
            <a:r>
              <a:rPr lang="it-IT" dirty="0" err="1"/>
              <a:t>antimalware</a:t>
            </a:r>
            <a:r>
              <a:rPr lang="it-IT" dirty="0"/>
              <a:t> e anti-virus</a:t>
            </a:r>
            <a:br>
              <a:rPr lang="it-IT" dirty="0"/>
            </a:br>
            <a:r>
              <a:rPr lang="it-IT" dirty="0"/>
              <a:t>• </a:t>
            </a:r>
            <a:r>
              <a:rPr lang="it-IT" b="1" dirty="0"/>
              <a:t>Sicurezza applicativa</a:t>
            </a:r>
            <a:br>
              <a:rPr lang="it-IT" b="1" dirty="0"/>
            </a:br>
            <a:r>
              <a:rPr lang="it-IT" dirty="0"/>
              <a:t>– tecniche di scrittura di software sicuro, limitando il rischio di presenza di vulnerabilità, tecniche di</a:t>
            </a:r>
            <a:br>
              <a:rPr lang="it-IT" dirty="0"/>
            </a:br>
            <a:r>
              <a:rPr lang="it-IT" dirty="0"/>
              <a:t>verifica (</a:t>
            </a:r>
            <a:r>
              <a:rPr lang="it-IT" i="1" dirty="0" err="1"/>
              <a:t>vulnerability</a:t>
            </a:r>
            <a:r>
              <a:rPr lang="it-IT" i="1" dirty="0"/>
              <a:t> </a:t>
            </a:r>
            <a:r>
              <a:rPr lang="it-IT" i="1" dirty="0" err="1"/>
              <a:t>assessment</a:t>
            </a:r>
            <a:r>
              <a:rPr lang="it-IT" dirty="0"/>
              <a:t>, </a:t>
            </a:r>
            <a:r>
              <a:rPr lang="it-IT" i="1" dirty="0" err="1"/>
              <a:t>application</a:t>
            </a:r>
            <a:r>
              <a:rPr lang="it-IT" i="1" dirty="0"/>
              <a:t> </a:t>
            </a:r>
            <a:r>
              <a:rPr lang="it-IT" i="1" dirty="0" err="1"/>
              <a:t>penetration</a:t>
            </a:r>
            <a:r>
              <a:rPr lang="it-IT" i="1" dirty="0"/>
              <a:t> test</a:t>
            </a:r>
            <a:r>
              <a:rPr lang="it-IT" dirty="0"/>
              <a:t>)</a:t>
            </a:r>
            <a:br>
              <a:rPr lang="it-IT" dirty="0"/>
            </a:br>
            <a:r>
              <a:rPr lang="it-IT" dirty="0"/>
              <a:t>– strumenti di tipo AAA (</a:t>
            </a:r>
            <a:r>
              <a:rPr lang="it-IT" i="1" dirty="0"/>
              <a:t>Authentication</a:t>
            </a:r>
            <a:r>
              <a:rPr lang="it-IT" dirty="0"/>
              <a:t>, </a:t>
            </a:r>
            <a:r>
              <a:rPr lang="it-IT" i="1" dirty="0" err="1"/>
              <a:t>Authorization</a:t>
            </a:r>
            <a:r>
              <a:rPr lang="it-IT" dirty="0"/>
              <a:t>, </a:t>
            </a:r>
            <a:r>
              <a:rPr lang="it-IT" i="1" dirty="0"/>
              <a:t>Accounting</a:t>
            </a:r>
            <a:r>
              <a:rPr lang="it-IT" dirty="0"/>
              <a:t>) integrati con tutte le applicazioni</a:t>
            </a:r>
            <a:br>
              <a:rPr lang="it-IT" dirty="0"/>
            </a:br>
            <a:r>
              <a:rPr lang="it-IT" dirty="0"/>
              <a:t>del sistema informativo aziendale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2652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8FBC481-441D-4E58-8430-68DA32119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954" y="373224"/>
            <a:ext cx="9038092" cy="61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4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perimetrale: Firewall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b="1" dirty="0"/>
              <a:t>Sicurezza perimetrale: firewall</a:t>
            </a:r>
            <a:br>
              <a:rPr lang="it-IT" b="1" dirty="0"/>
            </a:br>
            <a:r>
              <a:rPr lang="it-IT" dirty="0"/>
              <a:t>• Il principale strumento di sicurezza perimetrale è il </a:t>
            </a:r>
            <a:r>
              <a:rPr lang="it-IT" b="1" dirty="0"/>
              <a:t>Firewall</a:t>
            </a:r>
            <a:br>
              <a:rPr lang="it-IT" b="1" dirty="0"/>
            </a:br>
            <a:r>
              <a:rPr lang="it-IT" dirty="0"/>
              <a:t>– È un computer dotato di </a:t>
            </a:r>
            <a:r>
              <a:rPr lang="it-IT" b="1" dirty="0"/>
              <a:t>due o più interfacce di rete </a:t>
            </a:r>
            <a:r>
              <a:rPr lang="it-IT" dirty="0"/>
              <a:t>e svolge il ruolo di gateway tra due o più reti</a:t>
            </a:r>
            <a:br>
              <a:rPr lang="it-IT" dirty="0"/>
            </a:br>
            <a:r>
              <a:rPr lang="it-IT" dirty="0"/>
              <a:t>– Gestisce le </a:t>
            </a:r>
            <a:r>
              <a:rPr lang="it-IT" b="1" dirty="0"/>
              <a:t>regole che determinano il traffico </a:t>
            </a:r>
            <a:r>
              <a:rPr lang="it-IT" dirty="0"/>
              <a:t>che può passare da una rete ad un’altra</a:t>
            </a:r>
            <a:br>
              <a:rPr lang="it-IT" dirty="0"/>
            </a:br>
            <a:r>
              <a:rPr lang="it-IT" dirty="0"/>
              <a:t>• Tipicamente collega tre reti distinte: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la rete esterna</a:t>
            </a:r>
            <a:r>
              <a:rPr lang="it-IT" dirty="0"/>
              <a:t>, fuori dal perimetro del sistema informativo aziendale (es.: la rete Internet)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la rete interna</a:t>
            </a:r>
            <a:r>
              <a:rPr lang="it-IT" dirty="0"/>
              <a:t>, la rete aziendale vera e propria, a cui sono connessi gli end-point degli utenti</a:t>
            </a:r>
            <a:br>
              <a:rPr lang="it-IT" dirty="0"/>
            </a:br>
            <a:r>
              <a:rPr lang="it-IT" dirty="0"/>
              <a:t>interni; questa rete generalmente non è accessibile dall’esterno, ma i nodi di questa rete possono</a:t>
            </a:r>
            <a:br>
              <a:rPr lang="it-IT" dirty="0"/>
            </a:br>
            <a:r>
              <a:rPr lang="it-IT" dirty="0"/>
              <a:t>aprire connessioni verso nodi della rete esterna su alcuni protocolli applicativi e verso alcuni</a:t>
            </a:r>
            <a:br>
              <a:rPr lang="it-IT" dirty="0"/>
            </a:br>
            <a:r>
              <a:rPr lang="it-IT" dirty="0"/>
              <a:t>indirizzi esterni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la rete DMZ </a:t>
            </a:r>
            <a:r>
              <a:rPr lang="it-IT" dirty="0"/>
              <a:t>(</a:t>
            </a:r>
            <a:r>
              <a:rPr lang="it-IT" i="1" dirty="0" err="1"/>
              <a:t>demilitarized</a:t>
            </a:r>
            <a:r>
              <a:rPr lang="it-IT" i="1" dirty="0"/>
              <a:t> zone</a:t>
            </a:r>
            <a:r>
              <a:rPr lang="it-IT" dirty="0"/>
              <a:t>), la rete del sistema informativo aziendale a cui sono connessi gli</a:t>
            </a:r>
            <a:br>
              <a:rPr lang="it-IT" dirty="0"/>
            </a:br>
            <a:r>
              <a:rPr lang="it-IT" dirty="0" err="1"/>
              <a:t>host</a:t>
            </a:r>
            <a:r>
              <a:rPr lang="it-IT" dirty="0"/>
              <a:t> che erogano servizi verso l’esterno e che quindi devono essere accessibili dalla rete esterna</a:t>
            </a:r>
            <a:br>
              <a:rPr lang="it-IT" dirty="0"/>
            </a:br>
            <a:r>
              <a:rPr lang="it-IT" dirty="0"/>
              <a:t>(mail server, web server, DNS, ecc.)</a:t>
            </a:r>
            <a:br>
              <a:rPr lang="it-IT" dirty="0"/>
            </a:br>
            <a:r>
              <a:rPr lang="it-IT" dirty="0"/>
              <a:t>• Processo operativo:</a:t>
            </a:r>
            <a:br>
              <a:rPr lang="it-IT" dirty="0"/>
            </a:br>
            <a:r>
              <a:rPr lang="it-IT" dirty="0"/>
              <a:t>– Valutazione della direzione del traffico (rete sorgente, rete destinazione) e selezione delle policy di</a:t>
            </a:r>
            <a:br>
              <a:rPr lang="it-IT" dirty="0"/>
            </a:br>
            <a:r>
              <a:rPr lang="it-IT" dirty="0"/>
              <a:t>sicurezza impostate</a:t>
            </a:r>
            <a:br>
              <a:rPr lang="it-IT" dirty="0"/>
            </a:br>
            <a:r>
              <a:rPr lang="it-IT" dirty="0"/>
              <a:t>– Valutazione della raggiungibilità dell’indirizzo di destinazione (eventualmente tramite NAT)</a:t>
            </a:r>
            <a:br>
              <a:rPr lang="it-IT" dirty="0"/>
            </a:br>
            <a:r>
              <a:rPr lang="it-IT" dirty="0"/>
              <a:t>dall’indirizzo di origine</a:t>
            </a:r>
            <a:br>
              <a:rPr lang="it-IT" dirty="0"/>
            </a:br>
            <a:r>
              <a:rPr lang="it-IT" dirty="0"/>
              <a:t>– Valutazione della raggiungibilità della porta TCP/UDP del server richiesta dal client sulla base delle</a:t>
            </a:r>
            <a:br>
              <a:rPr lang="it-IT" dirty="0"/>
            </a:br>
            <a:r>
              <a:rPr lang="it-IT" dirty="0"/>
              <a:t>policy di sicurezza impostate</a:t>
            </a:r>
            <a:br>
              <a:rPr lang="it-IT" dirty="0"/>
            </a:br>
            <a:r>
              <a:rPr lang="it-IT" dirty="0"/>
              <a:t>– Attivazione della connessione, oppure “drop” del pacchetto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655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perimetrale: IDS / IPS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• I sistemi </a:t>
            </a:r>
            <a:r>
              <a:rPr lang="it-IT" b="1" dirty="0"/>
              <a:t>IDS </a:t>
            </a:r>
            <a:r>
              <a:rPr lang="it-IT" dirty="0"/>
              <a:t>(</a:t>
            </a:r>
            <a:r>
              <a:rPr lang="it-IT" i="1" dirty="0" err="1"/>
              <a:t>intrusion</a:t>
            </a:r>
            <a:r>
              <a:rPr lang="it-IT" i="1" dirty="0"/>
              <a:t> </a:t>
            </a:r>
            <a:r>
              <a:rPr lang="it-IT" i="1" dirty="0" err="1"/>
              <a:t>detection</a:t>
            </a:r>
            <a:r>
              <a:rPr lang="it-IT" i="1" dirty="0"/>
              <a:t> system</a:t>
            </a:r>
            <a:r>
              <a:rPr lang="it-IT" dirty="0"/>
              <a:t>) sono apparati hardware o programmi software dedicati ad analizzare il traffico di rete in ingresso per rilevare sequenze di dati che siano riconoscibili come accessi non autorizzati dall’esterno</a:t>
            </a:r>
            <a:br>
              <a:rPr lang="it-IT" dirty="0"/>
            </a:br>
            <a:r>
              <a:rPr lang="it-IT" dirty="0"/>
              <a:t>• I sistemi IDS si basano sull’applicazione di regole euristiche per stabilire se una connessione è illecita, un tentativo di intrusione (riuscito) non autorizzato</a:t>
            </a:r>
            <a:br>
              <a:rPr lang="it-IT" dirty="0"/>
            </a:br>
            <a:r>
              <a:rPr lang="it-IT" dirty="0"/>
              <a:t>• I sistemi </a:t>
            </a:r>
            <a:r>
              <a:rPr lang="it-IT" b="1" dirty="0"/>
              <a:t>IPS </a:t>
            </a:r>
            <a:r>
              <a:rPr lang="it-IT" dirty="0"/>
              <a:t>(</a:t>
            </a:r>
            <a:r>
              <a:rPr lang="it-IT" i="1" dirty="0" err="1"/>
              <a:t>intrusion</a:t>
            </a:r>
            <a:r>
              <a:rPr lang="it-IT" i="1" dirty="0"/>
              <a:t> </a:t>
            </a:r>
            <a:r>
              <a:rPr lang="it-IT" i="1" dirty="0" err="1"/>
              <a:t>prevention</a:t>
            </a:r>
            <a:r>
              <a:rPr lang="it-IT" i="1" dirty="0"/>
              <a:t> system</a:t>
            </a:r>
            <a:r>
              <a:rPr lang="it-IT" dirty="0"/>
              <a:t>) sono, al contrario, sistemi che, analizzando il</a:t>
            </a:r>
            <a:br>
              <a:rPr lang="it-IT" dirty="0"/>
            </a:br>
            <a:r>
              <a:rPr lang="it-IT" dirty="0"/>
              <a:t>traffico di rete, identificano un tentativo di intrusione dall’esterno non autorizzato e non</a:t>
            </a:r>
            <a:br>
              <a:rPr lang="it-IT" dirty="0"/>
            </a:br>
            <a:r>
              <a:rPr lang="it-IT" dirty="0"/>
              <a:t>ancora eseguito e lo bloccano (</a:t>
            </a:r>
            <a:r>
              <a:rPr lang="it-IT" i="1" dirty="0"/>
              <a:t>drop </a:t>
            </a:r>
            <a:r>
              <a:rPr lang="it-IT" dirty="0"/>
              <a:t>del pacchetto di rete)</a:t>
            </a:r>
            <a:br>
              <a:rPr lang="it-IT" dirty="0"/>
            </a:br>
            <a:r>
              <a:rPr lang="it-IT" dirty="0"/>
              <a:t>• Ad esempio i sistemi IDS e IPS sono in grado di identificare (IDS) e di bloccare (IPS) un port </a:t>
            </a:r>
            <a:r>
              <a:rPr lang="it-IT" dirty="0" err="1"/>
              <a:t>scan</a:t>
            </a:r>
            <a:r>
              <a:rPr lang="it-IT" dirty="0"/>
              <a:t> dalla rete esterna</a:t>
            </a:r>
            <a:br>
              <a:rPr lang="it-IT" dirty="0"/>
            </a:br>
            <a:r>
              <a:rPr lang="it-IT" dirty="0"/>
              <a:t>• Spesso questi dispositivi sono una componente implementata nel software del Firewall 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7539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perimetrale: Proxy e </a:t>
            </a:r>
            <a:r>
              <a:rPr lang="it-IT" dirty="0" err="1"/>
              <a:t>content</a:t>
            </a:r>
            <a:r>
              <a:rPr lang="it-IT" dirty="0"/>
              <a:t> filtering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• Un </a:t>
            </a:r>
            <a:r>
              <a:rPr lang="it-IT" b="1" dirty="0"/>
              <a:t>proxy server </a:t>
            </a:r>
            <a:r>
              <a:rPr lang="it-IT" dirty="0"/>
              <a:t>è una componente (hardware o software) che riceve richieste dalla rete</a:t>
            </a:r>
            <a:br>
              <a:rPr lang="it-IT" dirty="0"/>
            </a:br>
            <a:r>
              <a:rPr lang="it-IT" dirty="0"/>
              <a:t>interna (tipicamente HTTP/HTTPS), modifica i pacchetti IP impostando come indirizzo IP</a:t>
            </a:r>
            <a:br>
              <a:rPr lang="it-IT" dirty="0"/>
            </a:br>
            <a:r>
              <a:rPr lang="it-IT" dirty="0"/>
              <a:t>client il proprio indirizzo esterno, ed inviando il pacchetto a destinazione; la risposta del</a:t>
            </a:r>
            <a:br>
              <a:rPr lang="it-IT" dirty="0"/>
            </a:br>
            <a:r>
              <a:rPr lang="it-IT" dirty="0"/>
              <a:t>server viene così ricevuta dal Proxy Server che provvede a girarla al client</a:t>
            </a:r>
            <a:br>
              <a:rPr lang="it-IT" dirty="0"/>
            </a:br>
            <a:r>
              <a:rPr lang="it-IT" dirty="0"/>
              <a:t>• Lo scopo di un proxy server (ad esempio un HTTP proxy) è quello di:</a:t>
            </a:r>
            <a:br>
              <a:rPr lang="it-IT" dirty="0"/>
            </a:br>
            <a:r>
              <a:rPr lang="it-IT" dirty="0"/>
              <a:t>– rendere accessibile una risorsa esterna anche tramite un client con un indirizzo privato</a:t>
            </a:r>
            <a:br>
              <a:rPr lang="it-IT" dirty="0"/>
            </a:br>
            <a:r>
              <a:rPr lang="it-IT" dirty="0"/>
              <a:t>– non stabilire una connessione di rete diretta tra client (interno) e server (esterno): la connessione è</a:t>
            </a:r>
            <a:br>
              <a:rPr lang="it-IT" dirty="0"/>
            </a:br>
            <a:r>
              <a:rPr lang="it-IT" dirty="0"/>
              <a:t>intermediata dal proxy in modo del tutto trasparente per i due interlocutori</a:t>
            </a:r>
            <a:br>
              <a:rPr lang="it-IT" dirty="0"/>
            </a:br>
            <a:r>
              <a:rPr lang="it-IT" dirty="0"/>
              <a:t>– rifiutare connessioni verso siti presenti in una </a:t>
            </a:r>
            <a:r>
              <a:rPr lang="it-IT" i="1" dirty="0"/>
              <a:t>black list </a:t>
            </a:r>
            <a:r>
              <a:rPr lang="it-IT" dirty="0"/>
              <a:t>gestita nella configurazione del proxy (es.:</a:t>
            </a:r>
            <a:br>
              <a:rPr lang="it-IT" dirty="0"/>
            </a:br>
            <a:r>
              <a:rPr lang="it-IT" dirty="0"/>
              <a:t>siti pornografici, siti di “</a:t>
            </a:r>
            <a:r>
              <a:rPr lang="it-IT" i="1" dirty="0"/>
              <a:t>fishing</a:t>
            </a:r>
            <a:r>
              <a:rPr lang="it-IT" dirty="0"/>
              <a:t>”, siti i cui contenuti contravvengono all’etica aziendale, ecc.)</a:t>
            </a:r>
            <a:br>
              <a:rPr lang="it-IT" dirty="0"/>
            </a:br>
            <a:r>
              <a:rPr lang="it-IT" dirty="0"/>
              <a:t>• Un </a:t>
            </a:r>
            <a:r>
              <a:rPr lang="it-IT" b="1" dirty="0" err="1"/>
              <a:t>content</a:t>
            </a:r>
            <a:r>
              <a:rPr lang="it-IT" b="1" dirty="0"/>
              <a:t> filter </a:t>
            </a:r>
            <a:r>
              <a:rPr lang="it-IT" dirty="0"/>
              <a:t>è una sorta di proxy che attua le proprie regole di raggiungibilità o</a:t>
            </a:r>
            <a:br>
              <a:rPr lang="it-IT" dirty="0"/>
            </a:br>
            <a:r>
              <a:rPr lang="it-IT" dirty="0"/>
              <a:t>irraggiungibilità di un sito, sulla base del contenuto presente nel traffico di rete dall’esterno</a:t>
            </a:r>
            <a:br>
              <a:rPr lang="it-IT" dirty="0"/>
            </a:br>
            <a:r>
              <a:rPr lang="it-IT" dirty="0"/>
              <a:t>verso l’interno</a:t>
            </a:r>
            <a:br>
              <a:rPr lang="it-IT" dirty="0"/>
            </a:br>
            <a:r>
              <a:rPr lang="it-IT" dirty="0"/>
              <a:t>– Anche un sistema antivirus o antispam installato su un mail server, è una sorta di </a:t>
            </a:r>
            <a:r>
              <a:rPr lang="it-IT" dirty="0" err="1"/>
              <a:t>content</a:t>
            </a:r>
            <a:r>
              <a:rPr lang="it-IT" dirty="0"/>
              <a:t> filter:</a:t>
            </a:r>
            <a:br>
              <a:rPr lang="it-IT" dirty="0"/>
            </a:br>
            <a:r>
              <a:rPr lang="it-IT" dirty="0"/>
              <a:t>entra nel merito del contenuto delle mail e stabilisce se trasmetterle o eliminarle dalla coda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906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degli endpoint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• La protezione delle </a:t>
            </a:r>
            <a:r>
              <a:rPr lang="it-IT" b="1" dirty="0"/>
              <a:t>postazioni di lavoro </a:t>
            </a:r>
            <a:r>
              <a:rPr lang="it-IT" dirty="0"/>
              <a:t>e dei </a:t>
            </a:r>
            <a:r>
              <a:rPr lang="it-IT" b="1" dirty="0"/>
              <a:t>server</a:t>
            </a:r>
            <a:r>
              <a:rPr lang="it-IT" dirty="0"/>
              <a:t>, i cosiddetti “end point” del sistema</a:t>
            </a:r>
            <a:br>
              <a:rPr lang="it-IT" dirty="0"/>
            </a:br>
            <a:r>
              <a:rPr lang="it-IT" dirty="0"/>
              <a:t>informativo aziendale, può essere attuata su quattro linee principali:</a:t>
            </a:r>
            <a:br>
              <a:rPr lang="it-IT" dirty="0"/>
            </a:br>
            <a:r>
              <a:rPr lang="it-IT" dirty="0"/>
              <a:t>– </a:t>
            </a:r>
            <a:r>
              <a:rPr lang="it-IT" dirty="0" err="1"/>
              <a:t>Hardening</a:t>
            </a:r>
            <a:r>
              <a:rPr lang="it-IT" dirty="0"/>
              <a:t>, aggiornamento continuo con patch</a:t>
            </a:r>
            <a:br>
              <a:rPr lang="it-IT" dirty="0"/>
            </a:br>
            <a:r>
              <a:rPr lang="it-IT" dirty="0"/>
              <a:t>– Sistemi Antivirus</a:t>
            </a:r>
            <a:br>
              <a:rPr lang="it-IT" dirty="0"/>
            </a:br>
            <a:r>
              <a:rPr lang="it-IT" dirty="0"/>
              <a:t>– Personal firewall</a:t>
            </a:r>
            <a:br>
              <a:rPr lang="it-IT" dirty="0"/>
            </a:br>
            <a:r>
              <a:rPr lang="it-IT" dirty="0"/>
              <a:t>– Sistemi Data Loss </a:t>
            </a:r>
            <a:r>
              <a:rPr lang="it-IT" dirty="0" err="1"/>
              <a:t>Prevention</a:t>
            </a:r>
            <a:br>
              <a:rPr lang="it-IT" dirty="0"/>
            </a:br>
            <a:r>
              <a:rPr lang="it-IT" dirty="0"/>
              <a:t>• </a:t>
            </a:r>
            <a:r>
              <a:rPr lang="it-IT" b="1" dirty="0" err="1"/>
              <a:t>Hardening</a:t>
            </a:r>
            <a:r>
              <a:rPr lang="it-IT" b="1" dirty="0"/>
              <a:t> della macchina</a:t>
            </a:r>
            <a:br>
              <a:rPr lang="it-IT" b="1" dirty="0"/>
            </a:br>
            <a:r>
              <a:rPr lang="it-IT" dirty="0"/>
              <a:t>– Consiste nella applicazione di </a:t>
            </a:r>
            <a:r>
              <a:rPr lang="it-IT" b="1" dirty="0"/>
              <a:t>configurazioni del software di base </a:t>
            </a:r>
            <a:r>
              <a:rPr lang="it-IT" dirty="0"/>
              <a:t>e del software applicativo che</a:t>
            </a:r>
            <a:br>
              <a:rPr lang="it-IT" dirty="0"/>
            </a:br>
            <a:r>
              <a:rPr lang="it-IT" dirty="0"/>
              <a:t>riducano il rischio di creare i presupposti per attacchi dall’esterno (es.: disabilitazione di servizi</a:t>
            </a:r>
            <a:br>
              <a:rPr lang="it-IT" dirty="0"/>
            </a:br>
            <a:r>
              <a:rPr lang="it-IT" dirty="0"/>
              <a:t>inutili o non utilizzati, impostazione di password non banali, definizione di profili di autorizzazione</a:t>
            </a:r>
            <a:br>
              <a:rPr lang="it-IT" dirty="0"/>
            </a:br>
            <a:r>
              <a:rPr lang="it-IT" dirty="0"/>
              <a:t>per gli utenti della macchina che limitino la loro operatività, ecc.)</a:t>
            </a:r>
            <a:br>
              <a:rPr lang="it-IT" dirty="0"/>
            </a:br>
            <a:r>
              <a:rPr lang="it-IT" dirty="0"/>
              <a:t>– Una componente fondamentale dell’</a:t>
            </a:r>
            <a:r>
              <a:rPr lang="it-IT" dirty="0" err="1"/>
              <a:t>hardening</a:t>
            </a:r>
            <a:r>
              <a:rPr lang="it-IT" dirty="0"/>
              <a:t> è l’installazione di tutte le </a:t>
            </a:r>
            <a:r>
              <a:rPr lang="it-IT" b="1" dirty="0"/>
              <a:t>patch di sicurezza</a:t>
            </a:r>
            <a:br>
              <a:rPr lang="it-IT" b="1" dirty="0"/>
            </a:br>
            <a:r>
              <a:rPr lang="it-IT" dirty="0"/>
              <a:t>disponibili per il </a:t>
            </a:r>
            <a:r>
              <a:rPr lang="it-IT" dirty="0" err="1"/>
              <a:t>sotfware</a:t>
            </a:r>
            <a:r>
              <a:rPr lang="it-IT" dirty="0"/>
              <a:t> di base e per il software applicativo; l’impostazione di politiche di</a:t>
            </a:r>
            <a:br>
              <a:rPr lang="it-IT" dirty="0"/>
            </a:br>
            <a:r>
              <a:rPr lang="it-IT" dirty="0"/>
              <a:t>aggiornamento automatico continuo del sistema operativo delle postazioni di lavoro è una buona</a:t>
            </a:r>
            <a:br>
              <a:rPr lang="it-IT" dirty="0"/>
            </a:br>
            <a:r>
              <a:rPr lang="it-IT" dirty="0"/>
              <a:t>prassi 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9766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degli endpoint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• </a:t>
            </a:r>
            <a:r>
              <a:rPr lang="it-IT" b="1" dirty="0"/>
              <a:t>Software Antivirus</a:t>
            </a:r>
            <a:br>
              <a:rPr lang="it-IT" b="1" dirty="0"/>
            </a:br>
            <a:r>
              <a:rPr lang="it-IT" dirty="0"/>
              <a:t>– È buona norma installare su tutte le postazioni di lavoro un software antivirus</a:t>
            </a:r>
            <a:br>
              <a:rPr lang="it-IT" dirty="0"/>
            </a:br>
            <a:r>
              <a:rPr lang="it-IT" dirty="0"/>
              <a:t>– Sono programmi che analizzano in tempo reale il contenuto di file e programmi nel momento in cui</a:t>
            </a:r>
            <a:br>
              <a:rPr lang="it-IT" dirty="0"/>
            </a:br>
            <a:r>
              <a:rPr lang="it-IT" dirty="0"/>
              <a:t>questi vengono acquisiti dall’esterno (via mail, via trasferimento file dalla rete, mediante memoria</a:t>
            </a:r>
            <a:br>
              <a:rPr lang="it-IT" dirty="0"/>
            </a:br>
            <a:r>
              <a:rPr lang="it-IT" dirty="0"/>
              <a:t>di massa removibile, ecc.) e </a:t>
            </a:r>
            <a:r>
              <a:rPr lang="it-IT" b="1" dirty="0"/>
              <a:t>identificano dei pattern nelle sequenze di byte</a:t>
            </a:r>
            <a:r>
              <a:rPr lang="it-IT" dirty="0"/>
              <a:t>, riconducibili a quelle</a:t>
            </a:r>
            <a:br>
              <a:rPr lang="it-IT" dirty="0"/>
            </a:br>
            <a:r>
              <a:rPr lang="it-IT" dirty="0"/>
              <a:t>che caratterizzano software infettato da virus: quei programmi vengono eliminati o copiati in</a:t>
            </a:r>
            <a:br>
              <a:rPr lang="it-IT" dirty="0"/>
            </a:br>
            <a:r>
              <a:rPr lang="it-IT" dirty="0"/>
              <a:t>un’area del filesystem detta di “quarantena”</a:t>
            </a:r>
            <a:br>
              <a:rPr lang="it-IT" dirty="0"/>
            </a:br>
            <a:r>
              <a:rPr lang="it-IT" dirty="0"/>
              <a:t>– Gli antivirus </a:t>
            </a:r>
            <a:r>
              <a:rPr lang="it-IT" b="1" dirty="0"/>
              <a:t>eseguono valutazioni euristiche basate sui pattern </a:t>
            </a:r>
            <a:r>
              <a:rPr lang="it-IT" dirty="0"/>
              <a:t>(le “</a:t>
            </a:r>
            <a:r>
              <a:rPr lang="it-IT" b="1" dirty="0"/>
              <a:t>firme</a:t>
            </a:r>
            <a:r>
              <a:rPr lang="it-IT" dirty="0"/>
              <a:t>” dei virus) aggiornati</a:t>
            </a:r>
            <a:br>
              <a:rPr lang="it-IT" dirty="0"/>
            </a:br>
            <a:r>
              <a:rPr lang="it-IT" dirty="0"/>
              <a:t>continuamente dai laboratori di ricerca e sviluppo dei produttori dei software antivirus: è buona</a:t>
            </a:r>
            <a:br>
              <a:rPr lang="it-IT" dirty="0"/>
            </a:br>
            <a:r>
              <a:rPr lang="it-IT" dirty="0"/>
              <a:t>norma quindi configurare il software antivirus per scaricare quotidianamente gli aggiornamenti</a:t>
            </a:r>
            <a:br>
              <a:rPr lang="it-IT" dirty="0"/>
            </a:br>
            <a:r>
              <a:rPr lang="it-IT" dirty="0"/>
              <a:t>delle firme dei nuovi virus scoperti dal produttore dell’antivirus</a:t>
            </a:r>
            <a:br>
              <a:rPr lang="it-IT" dirty="0"/>
            </a:br>
            <a:r>
              <a:rPr lang="it-IT" dirty="0"/>
              <a:t>• </a:t>
            </a:r>
            <a:r>
              <a:rPr lang="it-IT" b="1" dirty="0"/>
              <a:t>Personal firewall</a:t>
            </a:r>
            <a:br>
              <a:rPr lang="it-IT" b="1" dirty="0"/>
            </a:br>
            <a:r>
              <a:rPr lang="it-IT" dirty="0"/>
              <a:t>– Come componente del sistema operativo sono spesso presenti dei software che consentono di</a:t>
            </a:r>
            <a:br>
              <a:rPr lang="it-IT" dirty="0"/>
            </a:br>
            <a:r>
              <a:rPr lang="it-IT" dirty="0"/>
              <a:t>attuare sul personal computer o sul server delle politiche di accettazione o di rifiuto di connessioni</a:t>
            </a:r>
            <a:br>
              <a:rPr lang="it-IT" dirty="0"/>
            </a:br>
            <a:r>
              <a:rPr lang="it-IT" dirty="0"/>
              <a:t>provenienti dalla rete, analoghe a quelle definite sui firewall</a:t>
            </a:r>
            <a:br>
              <a:rPr lang="it-IT" dirty="0"/>
            </a:br>
            <a:r>
              <a:rPr lang="it-IT" dirty="0"/>
              <a:t>– Questo genere di strumento non può sostituire un firewall vero e proprio perché per riuscire a</a:t>
            </a:r>
            <a:br>
              <a:rPr lang="it-IT" dirty="0"/>
            </a:br>
            <a:r>
              <a:rPr lang="it-IT" dirty="0"/>
              <a:t>valutare le richieste di connessione dall’esterno, la macchina deve comunque accettarle: pertanto il</a:t>
            </a:r>
            <a:br>
              <a:rPr lang="it-IT" dirty="0"/>
            </a:br>
            <a:r>
              <a:rPr lang="it-IT" dirty="0"/>
              <a:t>personal firewall non è in grado di evitare che la macchina </a:t>
            </a:r>
            <a:r>
              <a:rPr lang="it-IT" i="1" dirty="0"/>
              <a:t>end-point </a:t>
            </a:r>
            <a:r>
              <a:rPr lang="it-IT" dirty="0"/>
              <a:t>venga attaccata, ma può</a:t>
            </a:r>
            <a:br>
              <a:rPr lang="it-IT" dirty="0"/>
            </a:br>
            <a:r>
              <a:rPr lang="it-IT" dirty="0"/>
              <a:t>limitare in modo significativo la probabilità che l’attacco abbia successo 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2002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degli endpoint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• </a:t>
            </a:r>
            <a:r>
              <a:rPr lang="it-IT" b="1" dirty="0"/>
              <a:t>Sistemi di Data Loss </a:t>
            </a:r>
            <a:r>
              <a:rPr lang="it-IT" b="1" dirty="0" err="1"/>
              <a:t>Prevention</a:t>
            </a:r>
            <a:r>
              <a:rPr lang="it-IT" b="1" dirty="0"/>
              <a:t> </a:t>
            </a:r>
            <a:r>
              <a:rPr lang="it-IT" dirty="0"/>
              <a:t>(</a:t>
            </a:r>
            <a:r>
              <a:rPr lang="it-IT" b="1" dirty="0"/>
              <a:t>DLP</a:t>
            </a:r>
            <a:r>
              <a:rPr lang="it-IT" dirty="0"/>
              <a:t>)</a:t>
            </a:r>
            <a:br>
              <a:rPr lang="it-IT" dirty="0"/>
            </a:br>
            <a:r>
              <a:rPr lang="it-IT" dirty="0"/>
              <a:t>– Sui personal computer, ma anche sui file server, sono </a:t>
            </a:r>
            <a:r>
              <a:rPr lang="it-IT" dirty="0" err="1"/>
              <a:t>presen</a:t>
            </a:r>
            <a:r>
              <a:rPr lang="it-IT" dirty="0"/>
              <a:t> molte </a:t>
            </a:r>
            <a:r>
              <a:rPr lang="it-IT" dirty="0" err="1"/>
              <a:t>infortimazioni</a:t>
            </a:r>
            <a:r>
              <a:rPr lang="it-IT" dirty="0"/>
              <a:t> anche critiche o</a:t>
            </a:r>
            <a:br>
              <a:rPr lang="it-IT" dirty="0"/>
            </a:br>
            <a:r>
              <a:rPr lang="it-IT" dirty="0"/>
              <a:t>riservate, in forma “destrutturata”: si tratta di dati importanti </a:t>
            </a:r>
            <a:r>
              <a:rPr lang="it-IT" dirty="0" err="1"/>
              <a:t>contenuL</a:t>
            </a:r>
            <a:r>
              <a:rPr lang="it-IT" dirty="0"/>
              <a:t> su documenti Microsoft</a:t>
            </a:r>
            <a:br>
              <a:rPr lang="it-IT" dirty="0"/>
            </a:br>
            <a:r>
              <a:rPr lang="it-IT" dirty="0"/>
              <a:t>Word, tabelle Microsoft Excel, documenti elettronici in formato PDF o Microsoft Power point, ecc.</a:t>
            </a:r>
            <a:br>
              <a:rPr lang="it-IT" dirty="0"/>
            </a:br>
            <a:r>
              <a:rPr lang="it-IT" dirty="0"/>
              <a:t>– Tali informazioni non sono gestite mediante un programma che ne limiti l’accessibilità da parte degli</a:t>
            </a:r>
            <a:br>
              <a:rPr lang="it-IT" dirty="0"/>
            </a:br>
            <a:r>
              <a:rPr lang="it-IT" dirty="0"/>
              <a:t>utenti sulla base di specifiche autorizzazioni: quei file possono essere facilmente </a:t>
            </a:r>
            <a:r>
              <a:rPr lang="it-IT" dirty="0" err="1"/>
              <a:t>distruti</a:t>
            </a:r>
            <a:r>
              <a:rPr lang="it-IT" dirty="0"/>
              <a:t>, stampati,</a:t>
            </a:r>
            <a:br>
              <a:rPr lang="it-IT" dirty="0"/>
            </a:br>
            <a:r>
              <a:rPr lang="it-IT" dirty="0"/>
              <a:t>condivisi con altri, anche con chi non ha il permesso di accedere a tali informazioni</a:t>
            </a:r>
            <a:br>
              <a:rPr lang="it-IT" dirty="0"/>
            </a:br>
            <a:r>
              <a:rPr lang="it-IT" dirty="0"/>
              <a:t>– La riservatezza, l’integrità e la disponibilità delle informazioni presenti sui file prodotti con strumenti</a:t>
            </a:r>
            <a:br>
              <a:rPr lang="it-IT" dirty="0"/>
            </a:br>
            <a:r>
              <a:rPr lang="it-IT" dirty="0"/>
              <a:t>di office </a:t>
            </a:r>
            <a:r>
              <a:rPr lang="it-IT" dirty="0" err="1"/>
              <a:t>automation</a:t>
            </a:r>
            <a:r>
              <a:rPr lang="it-IT" dirty="0"/>
              <a:t>, dipendono dalla consapevolezza dell’utente</a:t>
            </a:r>
            <a:br>
              <a:rPr lang="it-IT" dirty="0"/>
            </a:br>
            <a:r>
              <a:rPr lang="it-IT" dirty="0"/>
              <a:t>– I sistemi DLP arricchiscono il sistema operativo della macchina di </a:t>
            </a:r>
            <a:r>
              <a:rPr lang="it-IT" b="1" dirty="0"/>
              <a:t>funzionalità evolute di protezione</a:t>
            </a:r>
            <a:br>
              <a:rPr lang="it-IT" b="1" dirty="0"/>
            </a:br>
            <a:r>
              <a:rPr lang="it-IT" b="1" dirty="0"/>
              <a:t>delle informazioni non strutturate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/>
              <a:t>• permettono di definire e di attuare policy di </a:t>
            </a:r>
            <a:r>
              <a:rPr lang="it-IT" b="1" dirty="0"/>
              <a:t>cifratura </a:t>
            </a:r>
            <a:r>
              <a:rPr lang="it-IT" dirty="0"/>
              <a:t>dei file</a:t>
            </a:r>
            <a:br>
              <a:rPr lang="it-IT" dirty="0"/>
            </a:br>
            <a:r>
              <a:rPr lang="it-IT" dirty="0"/>
              <a:t>• policy di </a:t>
            </a:r>
            <a:r>
              <a:rPr lang="it-IT" b="1" dirty="0"/>
              <a:t>protezione </a:t>
            </a:r>
            <a:r>
              <a:rPr lang="it-IT" dirty="0"/>
              <a:t>da </a:t>
            </a:r>
            <a:r>
              <a:rPr lang="it-IT" dirty="0" err="1"/>
              <a:t>danneggiamenL</a:t>
            </a:r>
            <a:br>
              <a:rPr lang="it-IT" dirty="0"/>
            </a:br>
            <a:r>
              <a:rPr lang="it-IT" dirty="0"/>
              <a:t>• policy per la </a:t>
            </a:r>
            <a:r>
              <a:rPr lang="it-IT" b="1" dirty="0"/>
              <a:t>condivisione </a:t>
            </a:r>
            <a:r>
              <a:rPr lang="it-IT" dirty="0"/>
              <a:t>dei file stessi (es.: impediscono la stampa o la condivisione via e-mail di</a:t>
            </a:r>
            <a:br>
              <a:rPr lang="it-IT" dirty="0"/>
            </a:br>
            <a:r>
              <a:rPr lang="it-IT" dirty="0"/>
              <a:t>documenti che rispettano un determinato formato o contengono specifici pattern riconducibili ad</a:t>
            </a:r>
            <a:br>
              <a:rPr lang="it-IT" dirty="0"/>
            </a:br>
            <a:r>
              <a:rPr lang="it-IT" dirty="0"/>
              <a:t>informazioni riservate, ecc.) 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83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degli endpoint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• </a:t>
            </a:r>
            <a:r>
              <a:rPr lang="it-IT" b="1" dirty="0"/>
              <a:t>End-point </a:t>
            </a:r>
            <a:r>
              <a:rPr lang="it-IT" b="1" dirty="0" err="1"/>
              <a:t>threat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br>
              <a:rPr lang="it-IT" b="1" dirty="0"/>
            </a:br>
            <a:r>
              <a:rPr lang="it-IT" dirty="0"/>
              <a:t>– Mediante programmi «agent» installati sui singoli end-point vengono analizzati parametri di</a:t>
            </a:r>
            <a:br>
              <a:rPr lang="it-IT" dirty="0"/>
            </a:br>
            <a:r>
              <a:rPr lang="it-IT" dirty="0"/>
              <a:t>funzionamento interno della macchina (processi attivi, utilizzo della CPU, utilizzo della rete,</a:t>
            </a:r>
            <a:br>
              <a:rPr lang="it-IT" dirty="0"/>
            </a:br>
            <a:r>
              <a:rPr lang="it-IT" dirty="0"/>
              <a:t>operatività sui file) al fine di rilevare operazioni potenzialmente anomale o che violano le policy di</a:t>
            </a:r>
            <a:br>
              <a:rPr lang="it-IT" dirty="0"/>
            </a:br>
            <a:r>
              <a:rPr lang="it-IT" dirty="0"/>
              <a:t>sicurezza definite centralmente</a:t>
            </a:r>
            <a:br>
              <a:rPr lang="it-IT" dirty="0"/>
            </a:br>
            <a:r>
              <a:rPr lang="it-IT" dirty="0"/>
              <a:t>– Gli agent sono in grado di intervenire sui processi e le funzionalità di basso livello della macchina</a:t>
            </a:r>
            <a:br>
              <a:rPr lang="it-IT" dirty="0"/>
            </a:br>
            <a:r>
              <a:rPr lang="it-IT" dirty="0"/>
              <a:t>per bloccare attività identificate come pericolose (es.: terminazione di processi, interruzione delle</a:t>
            </a:r>
            <a:br>
              <a:rPr lang="it-IT" dirty="0"/>
            </a:br>
            <a:r>
              <a:rPr lang="it-IT" dirty="0"/>
              <a:t>comunicazioni in rete, ecc.)</a:t>
            </a:r>
            <a:br>
              <a:rPr lang="it-IT" dirty="0"/>
            </a:br>
            <a:r>
              <a:rPr lang="it-IT" dirty="0"/>
              <a:t>• </a:t>
            </a:r>
            <a:r>
              <a:rPr lang="it-IT" b="1" dirty="0"/>
              <a:t>Sistemi anti-malware, anti-SPAM e sandbox</a:t>
            </a:r>
            <a:br>
              <a:rPr lang="it-IT" b="1" dirty="0"/>
            </a:br>
            <a:r>
              <a:rPr lang="it-IT" dirty="0"/>
              <a:t>– Un veicolo di trasporto di programmi </a:t>
            </a:r>
            <a:r>
              <a:rPr lang="it-IT" i="1" dirty="0"/>
              <a:t>malware </a:t>
            </a:r>
            <a:r>
              <a:rPr lang="it-IT" dirty="0"/>
              <a:t>e di azioni di </a:t>
            </a:r>
            <a:r>
              <a:rPr lang="it-IT" i="1" dirty="0"/>
              <a:t>phishing </a:t>
            </a:r>
            <a:r>
              <a:rPr lang="it-IT" dirty="0"/>
              <a:t>è la </a:t>
            </a:r>
            <a:r>
              <a:rPr lang="it-IT" b="1" dirty="0"/>
              <a:t>posta elettronica</a:t>
            </a:r>
            <a:br>
              <a:rPr lang="it-IT" b="1" dirty="0"/>
            </a:br>
            <a:r>
              <a:rPr lang="it-IT" dirty="0"/>
              <a:t>– Sui sistemi di posta elettronica (mail server) vengono predisposti </a:t>
            </a:r>
            <a:r>
              <a:rPr lang="it-IT" b="1" dirty="0"/>
              <a:t>programmi anti-malware</a:t>
            </a:r>
            <a:r>
              <a:rPr lang="it-IT" dirty="0"/>
              <a:t>, </a:t>
            </a:r>
            <a:r>
              <a:rPr lang="it-IT" b="1" dirty="0"/>
              <a:t>antispam </a:t>
            </a:r>
            <a:r>
              <a:rPr lang="it-IT" dirty="0"/>
              <a:t>in grado di analizzare il contenuto di tutte le mail in entrata e in uscita e di bloccare quelle</a:t>
            </a:r>
            <a:br>
              <a:rPr lang="it-IT" dirty="0"/>
            </a:br>
            <a:r>
              <a:rPr lang="it-IT" dirty="0"/>
              <a:t>contenenti allegati potenzialmente dannosi</a:t>
            </a:r>
            <a:br>
              <a:rPr lang="it-IT" dirty="0"/>
            </a:br>
            <a:r>
              <a:rPr lang="it-IT" dirty="0"/>
              <a:t>– Il blocco di una determinata e-mail viene segnalata all’utente che, nei casi incerti, può prelevare</a:t>
            </a:r>
            <a:br>
              <a:rPr lang="it-IT" dirty="0"/>
            </a:br>
            <a:r>
              <a:rPr lang="it-IT" dirty="0"/>
              <a:t>comunque il messaggio e-mail posto in un’area di «</a:t>
            </a:r>
            <a:r>
              <a:rPr lang="it-IT" b="1" dirty="0"/>
              <a:t>quarantena</a:t>
            </a:r>
            <a:r>
              <a:rPr lang="it-IT" dirty="0"/>
              <a:t>»</a:t>
            </a:r>
            <a:br>
              <a:rPr lang="it-IT" dirty="0"/>
            </a:br>
            <a:r>
              <a:rPr lang="it-IT" dirty="0"/>
              <a:t>– È possibile anche configurare sui mail server dei programmi denominati «</a:t>
            </a:r>
            <a:r>
              <a:rPr lang="it-IT" b="1" dirty="0"/>
              <a:t>sandbox</a:t>
            </a:r>
            <a:r>
              <a:rPr lang="it-IT" dirty="0"/>
              <a:t>» in cui un</a:t>
            </a:r>
            <a:br>
              <a:rPr lang="it-IT" dirty="0"/>
            </a:br>
            <a:r>
              <a:rPr lang="it-IT" dirty="0"/>
              <a:t>allegato potenzialmente dannoso può essere </a:t>
            </a:r>
            <a:r>
              <a:rPr lang="it-IT" b="1" i="1" dirty="0"/>
              <a:t>detonato </a:t>
            </a:r>
            <a:r>
              <a:rPr lang="it-IT" dirty="0"/>
              <a:t>(eseguito) in un ambiente protetto, al fine di</a:t>
            </a:r>
            <a:br>
              <a:rPr lang="it-IT" dirty="0"/>
            </a:br>
            <a:r>
              <a:rPr lang="it-IT" dirty="0"/>
              <a:t>valutarne gli effetti 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781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A6656-A6BD-48BB-A2BA-BB93CD16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 applicativa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CD401-4056-4C89-8B5B-8F3679B0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• Consiste nell’adottare metodologie e strumenti per rendere sicure le applicazioni informatiche mediante cui gli utenti autorizzati accedono ai dati presenti nel sistema informativo aziendale: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progettazione e sviluppo di software intrinsecamente sicuro </a:t>
            </a:r>
            <a:r>
              <a:rPr lang="it-IT" dirty="0"/>
              <a:t>e resistente ad </a:t>
            </a:r>
            <a:r>
              <a:rPr lang="it-IT"/>
              <a:t>attacchi informatici</a:t>
            </a:r>
            <a:br>
              <a:rPr lang="it-IT" dirty="0"/>
            </a:br>
            <a:r>
              <a:rPr lang="it-IT" dirty="0"/>
              <a:t>– </a:t>
            </a:r>
            <a:r>
              <a:rPr lang="it-IT" b="1" dirty="0"/>
              <a:t>adozione di componenti architetturali in grado di offrire servizi di protezione applicativa </a:t>
            </a:r>
            <a:r>
              <a:rPr lang="it-IT" dirty="0"/>
              <a:t>ben ingegnerizzate e indipendente dalla codifica dei programmi (servizi “AAA”) 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5871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3421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di Office</vt:lpstr>
      <vt:lpstr>Cybersecurity</vt:lpstr>
      <vt:lpstr>Sicurezza dei sistemi informativi  </vt:lpstr>
      <vt:lpstr>Sicurezza dei sistemi informativi  </vt:lpstr>
      <vt:lpstr>Presentazione standard di PowerPoint</vt:lpstr>
      <vt:lpstr>Presentazione standard di PowerPoint</vt:lpstr>
      <vt:lpstr>Alcuni tipi di attacco informatico  </vt:lpstr>
      <vt:lpstr>Alcuni tipi di attacco informatico  </vt:lpstr>
      <vt:lpstr>Alcuni tipi di attacco informatico  </vt:lpstr>
      <vt:lpstr>Presentazione standard di PowerPoint</vt:lpstr>
      <vt:lpstr>Sicurezza fisica di un sistema informatico </vt:lpstr>
      <vt:lpstr>Sicurezza fisica di un sistema informatico </vt:lpstr>
      <vt:lpstr>Presentazione standard di PowerPoint</vt:lpstr>
      <vt:lpstr>Sicurezza perimetrale: Firewall</vt:lpstr>
      <vt:lpstr>Sicurezza perimetrale: IDS / IPS</vt:lpstr>
      <vt:lpstr>Sicurezza perimetrale: Proxy e content filtering</vt:lpstr>
      <vt:lpstr>Sicurezza degli endpoint</vt:lpstr>
      <vt:lpstr>Sicurezza degli endpoint</vt:lpstr>
      <vt:lpstr>Sicurezza degli endpoint</vt:lpstr>
      <vt:lpstr>Sicurezza degli endpoint</vt:lpstr>
      <vt:lpstr>Sicurezza applicativa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</dc:title>
  <dc:creator>Alessio Foroni</dc:creator>
  <cp:lastModifiedBy>Alessio Foroni</cp:lastModifiedBy>
  <cp:revision>36</cp:revision>
  <dcterms:created xsi:type="dcterms:W3CDTF">2020-05-22T16:18:21Z</dcterms:created>
  <dcterms:modified xsi:type="dcterms:W3CDTF">2020-05-26T10:51:05Z</dcterms:modified>
</cp:coreProperties>
</file>